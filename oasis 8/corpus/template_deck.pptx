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algn="l">
              <a:defRPr sz="3400" b="1">
                <a:solidFill>
                  <a:srgbClr val="DA195C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>
              <a:defRPr sz="3400" b="1">
                <a:solidFill>
                  <a:srgbClr val="DA195C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35365"/>
                </a:solidFill>
                <a:latin typeface="Arial"/>
              </a:defRPr>
            </a:pPr>
            <a:r>
              <a:t>Mangalore Refinery and Petrochemicals Limited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371600" cy="44450"/>
          </a:xfrm>
          <a:prstGeom prst="rect">
            <a:avLst/>
          </a:prstGeom>
          <a:solidFill>
            <a:srgbClr val="F68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400" b="1">
                <a:solidFill>
                  <a:srgbClr val="DA195C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35365"/>
                </a:solidFill>
                <a:latin typeface="Arial"/>
              </a:defRPr>
            </a:pPr>
            <a:r>
              <a:t>Mangalore Refinery and Petrochemicals Limited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371600" cy="44450"/>
          </a:xfrm>
          <a:prstGeom prst="rect">
            <a:avLst/>
          </a:prstGeom>
          <a:solidFill>
            <a:srgbClr val="F68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algn="l">
              <a:defRPr sz="3400" b="1">
                <a:solidFill>
                  <a:srgbClr val="DA195C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35365"/>
                </a:solidFill>
                <a:latin typeface="Arial"/>
              </a:defRPr>
            </a:pPr>
            <a:r>
              <a:t>Mangalore Refinery and Petrochemicals Limited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371600" cy="44450"/>
          </a:xfrm>
          <a:prstGeom prst="rect">
            <a:avLst/>
          </a:prstGeom>
          <a:solidFill>
            <a:srgbClr val="F68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400" b="1">
                <a:solidFill>
                  <a:srgbClr val="DA195C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35365"/>
                </a:solidFill>
                <a:latin typeface="Arial"/>
              </a:defRPr>
            </a:pPr>
            <a:r>
              <a:t>Mangalore Refinery and Petrochemicals Limited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371600" cy="44450"/>
          </a:xfrm>
          <a:prstGeom prst="rect">
            <a:avLst/>
          </a:prstGeom>
          <a:solidFill>
            <a:srgbClr val="F68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defRPr sz="3400" b="1">
                <a:solidFill>
                  <a:srgbClr val="DA195C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35365"/>
                </a:solidFill>
                <a:latin typeface="Arial"/>
              </a:defRPr>
            </a:pPr>
            <a:r>
              <a:t>Mangalore Refinery and Petrochemicals Limited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371600" cy="44450"/>
          </a:xfrm>
          <a:prstGeom prst="rect">
            <a:avLst/>
          </a:prstGeom>
          <a:solidFill>
            <a:srgbClr val="F68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400" b="1">
                <a:solidFill>
                  <a:srgbClr val="DA195C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35365"/>
                </a:solidFill>
                <a:latin typeface="Arial"/>
              </a:defRPr>
            </a:pPr>
            <a:r>
              <a:t>Mangalore Refinery and Petrochemicals Limited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371600" cy="44450"/>
          </a:xfrm>
          <a:prstGeom prst="rect">
            <a:avLst/>
          </a:prstGeom>
          <a:solidFill>
            <a:srgbClr val="F68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35365"/>
                </a:solidFill>
                <a:latin typeface="Arial"/>
              </a:defRPr>
            </a:pPr>
            <a:r>
              <a:t>Mangalore Refinery and Petrochemicals Limited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371600" cy="44450"/>
          </a:xfrm>
          <a:prstGeom prst="rect">
            <a:avLst/>
          </a:prstGeom>
          <a:solidFill>
            <a:srgbClr val="F68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algn="l">
              <a:defRPr sz="3400" b="1">
                <a:solidFill>
                  <a:srgbClr val="DA195C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35365"/>
                </a:solidFill>
                <a:latin typeface="Arial"/>
              </a:defRPr>
            </a:pPr>
            <a:r>
              <a:t>Mangalore Refinery and Petrochemicals Limited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371600" cy="44450"/>
          </a:xfrm>
          <a:prstGeom prst="rect">
            <a:avLst/>
          </a:prstGeom>
          <a:solidFill>
            <a:srgbClr val="F68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algn="l">
              <a:defRPr sz="3400" b="1">
                <a:solidFill>
                  <a:srgbClr val="DA195C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35365"/>
                </a:solidFill>
                <a:latin typeface="Arial"/>
              </a:defRPr>
            </a:pPr>
            <a:r>
              <a:t>Mangalore Refinery and Petrochemicals Limited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371600" cy="44450"/>
          </a:xfrm>
          <a:prstGeom prst="rect">
            <a:avLst/>
          </a:prstGeom>
          <a:solidFill>
            <a:srgbClr val="F68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400" b="1">
                <a:solidFill>
                  <a:srgbClr val="DA195C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35365"/>
                </a:solidFill>
                <a:latin typeface="Arial"/>
              </a:defRPr>
            </a:pPr>
            <a:r>
              <a:t>Mangalore Refinery and Petrochemicals Limited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371600" cy="44450"/>
          </a:xfrm>
          <a:prstGeom prst="rect">
            <a:avLst/>
          </a:prstGeom>
          <a:solidFill>
            <a:srgbClr val="F68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algn="l">
              <a:defRPr sz="3400" b="1">
                <a:solidFill>
                  <a:srgbClr val="DA195C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35365"/>
                </a:solidFill>
                <a:latin typeface="Arial"/>
              </a:defRPr>
            </a:pPr>
            <a:r>
              <a:t>Mangalore Refinery and Petrochemicals Limited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371600" cy="44450"/>
          </a:xfrm>
          <a:prstGeom prst="rect">
            <a:avLst/>
          </a:prstGeom>
          <a:solidFill>
            <a:srgbClr val="F68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defRPr sz="3400" b="1">
                <a:solidFill>
                  <a:srgbClr val="DA195C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 algn="l">
              <a:defRPr sz="1700">
                <a:solidFill>
                  <a:srgbClr val="2D2D2D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 sz="1700">
                <a:solidFill>
                  <a:srgbClr val="2D2D2D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94560"/>
            <a:ext cx="4754880" cy="1828800"/>
          </a:xfrm>
        </p:spPr>
        <p:txBody>
          <a:bodyPr wrap="square"/>
          <a:lstStyle/>
          <a:p>
            <a:pPr algn="l">
              <a:defRPr sz="3400" b="1">
                <a:solidFill>
                  <a:srgbClr val="2D2D2D"/>
                </a:solidFill>
              </a:defRPr>
            </a:pPr>
            <a:r>
              <a:t>Equipment Reliability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3232" y="5669280"/>
            <a:ext cx="4754880" cy="0"/>
          </a:xfrm>
        </p:spPr>
        <p:txBody>
          <a:bodyPr/>
          <a:lstStyle/>
          <a:p>
            <a:pPr algn="l">
              <a:defRPr sz="1300" b="1">
                <a:solidFill>
                  <a:srgbClr val="2D2D2D"/>
                </a:solidFill>
              </a:defRPr>
            </a:pPr>
            <a:r>
              <a:t>P-101 Crude Charge Pump  ·  16 September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0" y="0"/>
            <a:ext cx="6339535" cy="6858000"/>
          </a:xfrm>
          <a:prstGeom prst="rect">
            <a:avLst/>
          </a:prstGeom>
          <a:gradFill rotWithShape="1">
            <a:gsLst>
              <a:gs pos="0">
                <a:srgbClr val="F68F1F"/>
              </a:gs>
              <a:gs pos="55000">
                <a:srgbClr val="DE7944"/>
              </a:gs>
              <a:gs pos="100000">
                <a:srgbClr val="DA195C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789920" cy="868680"/>
          </a:xfrm>
        </p:spPr>
        <p:txBody>
          <a:bodyPr/>
          <a:lstStyle/>
          <a:p>
            <a:pPr algn="l">
              <a:defRPr sz="3200" b="1">
                <a:solidFill>
                  <a:srgbClr val="DA195C"/>
                </a:solidFill>
                <a:latin typeface="Arial"/>
              </a:defRPr>
            </a:pPr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83080"/>
            <a:ext cx="10789920" cy="4114800"/>
          </a:xfrm>
        </p:spPr>
        <p:txBody>
          <a:bodyPr/>
          <a:lstStyle/>
          <a:p>
            <a:pPr>
              <a:spcAft>
                <a:spcPts val="1300"/>
              </a:spcAft>
              <a:defRPr sz="1800">
                <a:solidFill>
                  <a:srgbClr val="2D2D2D"/>
                </a:solidFill>
              </a:defRPr>
            </a:pPr>
            <a:r>
              <a:t>Seal failure interval has fallen from 246 days to 94 days</a:t>
            </a:r>
          </a:p>
          <a:p>
            <a:pPr>
              <a:spcAft>
                <a:spcPts val="1300"/>
              </a:spcAft>
              <a:defRPr sz="1800">
                <a:solidFill>
                  <a:srgbClr val="2D2D2D"/>
                </a:solidFill>
              </a:defRPr>
            </a:pPr>
            <a:r>
              <a:t>Flush line strainer found 60 percent blocked with scale</a:t>
            </a:r>
          </a:p>
          <a:p>
            <a:pPr>
              <a:spcAft>
                <a:spcPts val="1300"/>
              </a:spcAft>
              <a:defRPr sz="1800">
                <a:solidFill>
                  <a:srgbClr val="2D2D2D"/>
                </a:solidFill>
              </a:defRPr>
            </a:pPr>
            <a:r>
              <a:t>Seal faces scored, consistent with dry running</a:t>
            </a:r>
          </a:p>
          <a:p>
            <a:pPr>
              <a:spcAft>
                <a:spcPts val="1300"/>
              </a:spcAft>
              <a:defRPr sz="1800">
                <a:solidFill>
                  <a:srgbClr val="2D2D2D"/>
                </a:solidFill>
              </a:defRPr>
            </a:pPr>
            <a:r>
              <a:t>Flush differential pressure not recorded before September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789920" cy="868680"/>
          </a:xfrm>
        </p:spPr>
        <p:txBody>
          <a:bodyPr/>
          <a:lstStyle/>
          <a:p>
            <a:pPr algn="l">
              <a:defRPr sz="3200" b="1">
                <a:solidFill>
                  <a:srgbClr val="DA195C"/>
                </a:solidFill>
                <a:latin typeface="Arial"/>
              </a:defRPr>
            </a:pPr>
            <a:r>
              <a:t>Work orders by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783080"/>
            <a:ext cx="10789920" cy="3931920"/>
          </a:xfrm>
          <a:prstGeom prst="rect">
            <a:avLst/>
          </a:prstGeom>
          <a:solidFill>
            <a:srgbClr val="F4F5F7"/>
          </a:solidFill>
          <a:ln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435365"/>
                </a:solidFill>
              </a:defRPr>
            </a:pPr>
            <a:r>
              <a:t>chart goes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gradFill rotWithShape="1">
            <a:gsLst>
              <a:gs pos="0">
                <a:srgbClr val="F68F1F"/>
              </a:gs>
              <a:gs pos="55000">
                <a:srgbClr val="DE7944"/>
              </a:gs>
              <a:gs pos="100000">
                <a:srgbClr val="DA195C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286000"/>
            <a:ext cx="9601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0" b="1">
                <a:solidFill>
                  <a:srgbClr val="DA195C"/>
                </a:solidFill>
              </a:defRPr>
            </a:pPr>
            <a:r>
              <a:t>Rs. 8,58,500</a:t>
            </a:r>
          </a:p>
          <a:p>
            <a:pPr>
              <a:defRPr sz="1900">
                <a:solidFill>
                  <a:srgbClr val="435365"/>
                </a:solidFill>
              </a:defRPr>
            </a:pPr>
            <a:r>
              <a:t>breakdown maintenance, 2024 to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789920" cy="868680"/>
          </a:xfrm>
        </p:spPr>
        <p:txBody>
          <a:bodyPr/>
          <a:lstStyle/>
          <a:p>
            <a:pPr algn="l">
              <a:defRPr sz="3200" b="1">
                <a:solidFill>
                  <a:srgbClr val="DA195C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gradFill rotWithShape="1">
            <a:gsLst>
              <a:gs pos="0">
                <a:srgbClr val="F68F1F"/>
              </a:gs>
              <a:gs pos="55000">
                <a:srgbClr val="DE7944"/>
              </a:gs>
              <a:gs pos="100000">
                <a:srgbClr val="DA195C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t>Clean the flush line strainer and restore Plan 32 flush</a:t>
            </a: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t>Record flush differential pressure before every start</a:t>
            </a: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t>Re-inspect at 60 days rather than at failure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